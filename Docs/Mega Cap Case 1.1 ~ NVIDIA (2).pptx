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6" r:id="rId4"/>
    <p:sldId id="267" r:id="rId5"/>
    <p:sldId id="268" r:id="rId6"/>
    <p:sldId id="269" r:id="rId7"/>
    <p:sldId id="270" r:id="rId8"/>
    <p:sldId id="271" r:id="rId9"/>
    <p:sldId id="263" r:id="rId10"/>
    <p:sldId id="264" r:id="rId11"/>
    <p:sldId id="265" r:id="rId12"/>
    <p:sldId id="261" r:id="rId13"/>
    <p:sldId id="260" r:id="rId14"/>
    <p:sldId id="257" r:id="rId15"/>
    <p:sldId id="258"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57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4A77-3443-2AE0-3433-85A8909E33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34E9C-0BDB-60EE-EE29-75D16EF5DF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42BA80-7E8A-04E5-DF2D-1822F2D3B104}"/>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5" name="Footer Placeholder 4">
            <a:extLst>
              <a:ext uri="{FF2B5EF4-FFF2-40B4-BE49-F238E27FC236}">
                <a16:creationId xmlns:a16="http://schemas.microsoft.com/office/drawing/2014/main" id="{063D0EDE-2938-1675-267B-924A84D07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87B66-0C1C-AEB3-7292-598E2BBC9193}"/>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3205101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AF4BA-DD04-88D5-4517-A464CF2325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247D55-7926-86AF-4913-37EF0D2362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A2B758-B047-8B76-E1F7-76202C4A4528}"/>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5" name="Footer Placeholder 4">
            <a:extLst>
              <a:ext uri="{FF2B5EF4-FFF2-40B4-BE49-F238E27FC236}">
                <a16:creationId xmlns:a16="http://schemas.microsoft.com/office/drawing/2014/main" id="{146B2142-CCA3-80FF-0E31-7A3BA94FAE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2D5C1-CA36-7CF6-2528-0530635DCAC5}"/>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90975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DD47-10A0-3176-8B36-C1B0C04CEB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2A2B4A-8725-CFAD-1E58-776D525C38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877781-E0F5-6BE4-6AD2-B2E63AEBC924}"/>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5" name="Footer Placeholder 4">
            <a:extLst>
              <a:ext uri="{FF2B5EF4-FFF2-40B4-BE49-F238E27FC236}">
                <a16:creationId xmlns:a16="http://schemas.microsoft.com/office/drawing/2014/main" id="{A6C2F331-EE1D-32CD-CDBB-80EB6F03E4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790A1-4625-067A-0A63-C2D6318F4734}"/>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3585403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599A-F634-7559-CB99-2EC4EF46B0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907D9E-690E-23EC-6F6D-65DD45073D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D5D511-6360-3EA2-25C2-CAE538E488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C3602-C6CA-E544-CB9A-20A11BBC858E}"/>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6" name="Footer Placeholder 5">
            <a:extLst>
              <a:ext uri="{FF2B5EF4-FFF2-40B4-BE49-F238E27FC236}">
                <a16:creationId xmlns:a16="http://schemas.microsoft.com/office/drawing/2014/main" id="{97FA18D3-7EFA-2A7F-7ED6-4F760696B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616FC-B49F-8A42-A79E-DC3CE8DEEB4E}"/>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3103910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71D46-292D-0DA3-EF94-D2A91CA886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A0A378-67A3-6C47-860F-51E2E1DD3C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55B7B6-C3C4-33AD-325F-88E1F160F8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873287-5094-FB0A-CDA2-2E63E2463D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B0A6FD-B54C-4A39-B975-066C628659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9FFC02-B028-5807-E66A-9886499F2C97}"/>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8" name="Footer Placeholder 7">
            <a:extLst>
              <a:ext uri="{FF2B5EF4-FFF2-40B4-BE49-F238E27FC236}">
                <a16:creationId xmlns:a16="http://schemas.microsoft.com/office/drawing/2014/main" id="{489DA5E9-7D3D-9236-0F3B-0487B952F1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65027C-6218-56BF-78AE-60928CBB4C9D}"/>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272698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2B34-A5A8-48C7-8CA0-97CE87BC6A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E4099C-A865-FA2F-A55B-554E91ABCA3E}"/>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4" name="Footer Placeholder 3">
            <a:extLst>
              <a:ext uri="{FF2B5EF4-FFF2-40B4-BE49-F238E27FC236}">
                <a16:creationId xmlns:a16="http://schemas.microsoft.com/office/drawing/2014/main" id="{2BE287FB-0867-7035-19A8-9F297345BF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C24DE8-CDAD-078A-64CC-BCBCD946F269}"/>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1497653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769FE3-1307-B355-02C0-9B309203243A}"/>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3" name="Footer Placeholder 2">
            <a:extLst>
              <a:ext uri="{FF2B5EF4-FFF2-40B4-BE49-F238E27FC236}">
                <a16:creationId xmlns:a16="http://schemas.microsoft.com/office/drawing/2014/main" id="{1BA81DB9-7FD1-197F-BD20-E6B8D71FFB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394CE3-9784-CF36-71BC-7C358DB03831}"/>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3778539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A2B5E-EBAC-3381-200E-DD7311A654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E4946B-D826-F248-0D9F-2C926C16A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71F915-6E15-941E-5115-26201F24F0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DCA55E-59F0-CD35-AE78-A059D35C0539}"/>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6" name="Footer Placeholder 5">
            <a:extLst>
              <a:ext uri="{FF2B5EF4-FFF2-40B4-BE49-F238E27FC236}">
                <a16:creationId xmlns:a16="http://schemas.microsoft.com/office/drawing/2014/main" id="{09192339-D339-D92B-8388-8CC6E63FBC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F35F8-CFF8-0C7B-2F28-B2D8D5C4CDA3}"/>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3923764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251F-D43A-60E2-61A1-0C27A38B5A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11366F-A6ED-59CC-02E3-FCBFB90D73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9E41A3-7C4B-B5CF-78ED-71EEBDCA9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8A9883-CDD4-A443-EBCD-6B8417676BD3}"/>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6" name="Footer Placeholder 5">
            <a:extLst>
              <a:ext uri="{FF2B5EF4-FFF2-40B4-BE49-F238E27FC236}">
                <a16:creationId xmlns:a16="http://schemas.microsoft.com/office/drawing/2014/main" id="{B8C4B22A-C02B-A91E-7FFC-EC9B94651A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192484-2DAA-892D-7457-3E89E1E9F1F4}"/>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1937105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CE35-3655-2AEA-F0C4-F9A41064DC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DB9678-B8FB-26E7-3F3D-5D25B3A9D7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50B285-F071-02DB-37D0-6B021D3EC646}"/>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5" name="Footer Placeholder 4">
            <a:extLst>
              <a:ext uri="{FF2B5EF4-FFF2-40B4-BE49-F238E27FC236}">
                <a16:creationId xmlns:a16="http://schemas.microsoft.com/office/drawing/2014/main" id="{91786895-D2AD-DA28-8636-1D9C34EE3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6EEF7C-3EC4-2B48-D4F3-AB059604FF35}"/>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405599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DEB1D-3A42-B6C1-C9DF-62C9D14787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DCA764-FE2F-BC0D-38CC-FA3475141D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F29D2-DF4F-D63B-0BD9-B295AFA15DF1}"/>
              </a:ext>
            </a:extLst>
          </p:cNvPr>
          <p:cNvSpPr>
            <a:spLocks noGrp="1"/>
          </p:cNvSpPr>
          <p:nvPr>
            <p:ph type="dt" sz="half" idx="10"/>
          </p:nvPr>
        </p:nvSpPr>
        <p:spPr/>
        <p:txBody>
          <a:bodyPr/>
          <a:lstStyle/>
          <a:p>
            <a:fld id="{11971DE7-D625-4E76-AB50-CCD62464D8D2}" type="datetimeFigureOut">
              <a:rPr lang="en-US" smtClean="0"/>
              <a:t>7/29/2026</a:t>
            </a:fld>
            <a:endParaRPr lang="en-US"/>
          </a:p>
        </p:txBody>
      </p:sp>
      <p:sp>
        <p:nvSpPr>
          <p:cNvPr id="5" name="Footer Placeholder 4">
            <a:extLst>
              <a:ext uri="{FF2B5EF4-FFF2-40B4-BE49-F238E27FC236}">
                <a16:creationId xmlns:a16="http://schemas.microsoft.com/office/drawing/2014/main" id="{0790153E-01FD-887E-384A-E906DF1BA6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0FA81-110A-7D06-ECA8-38625BE17A0E}"/>
              </a:ext>
            </a:extLst>
          </p:cNvPr>
          <p:cNvSpPr>
            <a:spLocks noGrp="1"/>
          </p:cNvSpPr>
          <p:nvPr>
            <p:ph type="sldNum" sz="quarter" idx="12"/>
          </p:nvPr>
        </p:nvSpPr>
        <p:spPr/>
        <p:txBody>
          <a:bodyPr/>
          <a:lstStyle/>
          <a:p>
            <a:fld id="{2AAAEECF-C43D-4379-AD86-7CAC3BC64306}" type="slidenum">
              <a:rPr lang="en-US" smtClean="0"/>
              <a:t>‹#›</a:t>
            </a:fld>
            <a:endParaRPr lang="en-US"/>
          </a:p>
        </p:txBody>
      </p:sp>
    </p:spTree>
    <p:extLst>
      <p:ext uri="{BB962C8B-B14F-4D97-AF65-F5344CB8AC3E}">
        <p14:creationId xmlns:p14="http://schemas.microsoft.com/office/powerpoint/2010/main" val="1152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0F037E-7922-9F91-2FB0-85804CBD49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008DD6-81F5-F5B3-0A62-FD48C25E7C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985B3-0577-A251-0D2F-34EA3E2BDA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971DE7-D625-4E76-AB50-CCD62464D8D2}" type="datetimeFigureOut">
              <a:rPr lang="en-US" smtClean="0"/>
              <a:t>7/29/2026</a:t>
            </a:fld>
            <a:endParaRPr lang="en-US"/>
          </a:p>
        </p:txBody>
      </p:sp>
      <p:sp>
        <p:nvSpPr>
          <p:cNvPr id="5" name="Footer Placeholder 4">
            <a:extLst>
              <a:ext uri="{FF2B5EF4-FFF2-40B4-BE49-F238E27FC236}">
                <a16:creationId xmlns:a16="http://schemas.microsoft.com/office/drawing/2014/main" id="{7852C51A-BD15-61E3-8C5F-B93D8B560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F2B895-ABF8-2824-3A6D-80EA0759BC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AAEECF-C43D-4379-AD86-7CAC3BC64306}" type="slidenum">
              <a:rPr lang="en-US" smtClean="0"/>
              <a:t>‹#›</a:t>
            </a:fld>
            <a:endParaRPr lang="en-US"/>
          </a:p>
        </p:txBody>
      </p:sp>
    </p:spTree>
    <p:extLst>
      <p:ext uri="{BB962C8B-B14F-4D97-AF65-F5344CB8AC3E}">
        <p14:creationId xmlns:p14="http://schemas.microsoft.com/office/powerpoint/2010/main" val="215805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oogle.com/finance/beta/quote/AAPL:NASDAQ"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oogle.com/finance/beta/quote/AAPL:NASDAQ"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7EDD9-E369-BFE6-207E-E4C9BF8E6346}"/>
              </a:ext>
            </a:extLst>
          </p:cNvPr>
          <p:cNvSpPr>
            <a:spLocks noGrp="1"/>
          </p:cNvSpPr>
          <p:nvPr>
            <p:ph type="ctrTitle"/>
          </p:nvPr>
        </p:nvSpPr>
        <p:spPr/>
        <p:txBody>
          <a:bodyPr/>
          <a:lstStyle/>
          <a:p>
            <a:r>
              <a:rPr lang="en-US" dirty="0"/>
              <a:t>Mega Cap</a:t>
            </a:r>
          </a:p>
        </p:txBody>
      </p:sp>
      <p:sp>
        <p:nvSpPr>
          <p:cNvPr id="3" name="Subtitle 2">
            <a:extLst>
              <a:ext uri="{FF2B5EF4-FFF2-40B4-BE49-F238E27FC236}">
                <a16:creationId xmlns:a16="http://schemas.microsoft.com/office/drawing/2014/main" id="{69AA8AFB-C238-537F-1FB9-9C9E280F1402}"/>
              </a:ext>
            </a:extLst>
          </p:cNvPr>
          <p:cNvSpPr>
            <a:spLocks noGrp="1"/>
          </p:cNvSpPr>
          <p:nvPr>
            <p:ph type="subTitle" idx="1"/>
          </p:nvPr>
        </p:nvSpPr>
        <p:spPr/>
        <p:txBody>
          <a:bodyPr/>
          <a:lstStyle/>
          <a:p>
            <a:r>
              <a:rPr lang="en-US" dirty="0"/>
              <a:t>Case 1 - NVIDIA</a:t>
            </a:r>
          </a:p>
        </p:txBody>
      </p:sp>
    </p:spTree>
    <p:extLst>
      <p:ext uri="{BB962C8B-B14F-4D97-AF65-F5344CB8AC3E}">
        <p14:creationId xmlns:p14="http://schemas.microsoft.com/office/powerpoint/2010/main" val="3413531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5BF8-0338-3D3D-5831-BF6782D8625C}"/>
              </a:ext>
            </a:extLst>
          </p:cNvPr>
          <p:cNvSpPr>
            <a:spLocks noGrp="1"/>
          </p:cNvSpPr>
          <p:nvPr>
            <p:ph type="title"/>
          </p:nvPr>
        </p:nvSpPr>
        <p:spPr/>
        <p:txBody>
          <a:bodyPr/>
          <a:lstStyle/>
          <a:p>
            <a:r>
              <a:rPr lang="en-US" dirty="0"/>
              <a:t>OPTION 1</a:t>
            </a:r>
          </a:p>
        </p:txBody>
      </p:sp>
      <p:sp>
        <p:nvSpPr>
          <p:cNvPr id="3" name="Content Placeholder 2">
            <a:extLst>
              <a:ext uri="{FF2B5EF4-FFF2-40B4-BE49-F238E27FC236}">
                <a16:creationId xmlns:a16="http://schemas.microsoft.com/office/drawing/2014/main" id="{740A799B-D4A9-F883-2BF0-3BB88A330D33}"/>
              </a:ext>
            </a:extLst>
          </p:cNvPr>
          <p:cNvSpPr>
            <a:spLocks noGrp="1"/>
          </p:cNvSpPr>
          <p:nvPr>
            <p:ph idx="1"/>
          </p:nvPr>
        </p:nvSpPr>
        <p:spPr>
          <a:xfrm>
            <a:off x="838200" y="2115671"/>
            <a:ext cx="10515600" cy="4061292"/>
          </a:xfrm>
        </p:spPr>
        <p:txBody>
          <a:bodyPr>
            <a:normAutofit fontScale="62500" lnSpcReduction="20000"/>
          </a:bodyPr>
          <a:lstStyle/>
          <a:p>
            <a:r>
              <a:rPr lang="en-US" dirty="0"/>
              <a:t>"I am preparing for tomorrow's mega-cap earnings releases for </a:t>
            </a:r>
            <a:r>
              <a:rPr lang="en-US" b="1" dirty="0"/>
              <a:t>[Insert Tickers, e.g., AAPL, MSFT, NVDA]</a:t>
            </a:r>
            <a:r>
              <a:rPr lang="en-US" dirty="0"/>
              <a:t>.</a:t>
            </a:r>
          </a:p>
          <a:p>
            <a:r>
              <a:rPr lang="en-US" dirty="0"/>
              <a:t>Please analyze the setup and address the following:</a:t>
            </a:r>
          </a:p>
          <a:p>
            <a:pPr lvl="0"/>
            <a:r>
              <a:rPr lang="en-US" b="1" dirty="0"/>
              <a:t>Macro &amp; Geopolitical Factors:</a:t>
            </a:r>
            <a:r>
              <a:rPr lang="en-US" dirty="0"/>
              <a:t> Has there been any recent geopolitical news or strategic moves by global competitors since their last reports that could positively or adversely impact these tickers?</a:t>
            </a:r>
          </a:p>
          <a:p>
            <a:pPr lvl="0"/>
            <a:r>
              <a:rPr lang="en-US" b="1" dirty="0"/>
              <a:t>Aggregate Index Impact:</a:t>
            </a:r>
            <a:r>
              <a:rPr lang="en-US" dirty="0"/>
              <a:t> What is the expected net impact on S&amp;P 500 (ES) and Nasdaq 100 (NQ) futures?</a:t>
            </a:r>
          </a:p>
          <a:p>
            <a:pPr lvl="0"/>
            <a:r>
              <a:rPr lang="en-US" b="1" dirty="0"/>
              <a:t>Directional Bias &amp; Volatility:</a:t>
            </a:r>
            <a:r>
              <a:rPr lang="en-US" dirty="0"/>
              <a:t> What is your anticipated direction (bullish or bearish), and do you expect major price expansion up or down?</a:t>
            </a:r>
          </a:p>
          <a:p>
            <a:pPr lvl="0"/>
            <a:r>
              <a:rPr lang="en-US" b="1" dirty="0"/>
              <a:t>Price Gap Potential:</a:t>
            </a:r>
            <a:r>
              <a:rPr lang="en-US" dirty="0"/>
              <a:t> Is the market reaction likely to create a price gap at the open/session restart?</a:t>
            </a:r>
          </a:p>
          <a:p>
            <a:pPr lvl="0"/>
            <a:r>
              <a:rPr lang="en-US" b="1" dirty="0"/>
              <a:t>Move Severity Score:</a:t>
            </a:r>
            <a:r>
              <a:rPr lang="en-US" dirty="0"/>
              <a:t> </a:t>
            </a:r>
            <a:r>
              <a:rPr lang="en-US" b="1" dirty="0"/>
              <a:t>Grade the potential scale of the price move from 0 to 5</a:t>
            </a:r>
            <a:r>
              <a:rPr lang="en-US" dirty="0"/>
              <a:t> (0 = negligible/sideways movement, 5 = massive volatility/extreme range expansion).</a:t>
            </a:r>
          </a:p>
          <a:p>
            <a:r>
              <a:rPr lang="en-US" dirty="0"/>
              <a:t>Keep the analysis direct, structured, and focused on trading implications."</a:t>
            </a:r>
          </a:p>
          <a:p>
            <a:endParaRPr lang="en-US" dirty="0"/>
          </a:p>
        </p:txBody>
      </p:sp>
    </p:spTree>
    <p:extLst>
      <p:ext uri="{BB962C8B-B14F-4D97-AF65-F5344CB8AC3E}">
        <p14:creationId xmlns:p14="http://schemas.microsoft.com/office/powerpoint/2010/main" val="4047075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6C306-16E1-E5E4-DD1C-FAACEB34F31C}"/>
              </a:ext>
            </a:extLst>
          </p:cNvPr>
          <p:cNvSpPr>
            <a:spLocks noGrp="1"/>
          </p:cNvSpPr>
          <p:nvPr>
            <p:ph type="title"/>
          </p:nvPr>
        </p:nvSpPr>
        <p:spPr/>
        <p:txBody>
          <a:bodyPr/>
          <a:lstStyle/>
          <a:p>
            <a:r>
              <a:rPr lang="en-US" dirty="0"/>
              <a:t>Google Finance</a:t>
            </a:r>
          </a:p>
        </p:txBody>
      </p:sp>
      <p:sp>
        <p:nvSpPr>
          <p:cNvPr id="3" name="Content Placeholder 2">
            <a:extLst>
              <a:ext uri="{FF2B5EF4-FFF2-40B4-BE49-F238E27FC236}">
                <a16:creationId xmlns:a16="http://schemas.microsoft.com/office/drawing/2014/main" id="{80D57E5F-80CF-ACCD-0372-34B0E3F5B7E3}"/>
              </a:ext>
            </a:extLst>
          </p:cNvPr>
          <p:cNvSpPr>
            <a:spLocks noGrp="1"/>
          </p:cNvSpPr>
          <p:nvPr>
            <p:ph idx="1"/>
          </p:nvPr>
        </p:nvSpPr>
        <p:spPr>
          <a:xfrm>
            <a:off x="838200" y="1380565"/>
            <a:ext cx="10515600" cy="4796398"/>
          </a:xfrm>
        </p:spPr>
        <p:txBody>
          <a:bodyPr/>
          <a:lstStyle/>
          <a:p>
            <a:r>
              <a:rPr lang="en-US" dirty="0"/>
              <a:t>Based on the provided earnings calendar screenshots, the only mega-cap stock scheduled to report earnings tomorrow (July 30, 2026) is Apple Inc. (</a:t>
            </a:r>
            <a:r>
              <a:rPr lang="en-US" dirty="0">
                <a:hlinkClick r:id="rId2"/>
              </a:rPr>
              <a:t>NASDAQ:AAPL</a:t>
            </a:r>
            <a:r>
              <a:rPr lang="en-US" dirty="0"/>
              <a:t>), which is listed to release its results after the market close.</a:t>
            </a:r>
          </a:p>
          <a:p>
            <a:endParaRPr lang="en-US" dirty="0"/>
          </a:p>
        </p:txBody>
      </p:sp>
      <p:pic>
        <p:nvPicPr>
          <p:cNvPr id="5" name="Picture 4">
            <a:extLst>
              <a:ext uri="{FF2B5EF4-FFF2-40B4-BE49-F238E27FC236}">
                <a16:creationId xmlns:a16="http://schemas.microsoft.com/office/drawing/2014/main" id="{2C7F293B-872F-5F3D-E5E0-71151D73D916}"/>
              </a:ext>
            </a:extLst>
          </p:cNvPr>
          <p:cNvPicPr>
            <a:picLocks noChangeAspect="1"/>
          </p:cNvPicPr>
          <p:nvPr/>
        </p:nvPicPr>
        <p:blipFill>
          <a:blip r:embed="rId3"/>
          <a:stretch>
            <a:fillRect/>
          </a:stretch>
        </p:blipFill>
        <p:spPr>
          <a:xfrm>
            <a:off x="3200400" y="2916928"/>
            <a:ext cx="5791200" cy="3941072"/>
          </a:xfrm>
          <a:prstGeom prst="rect">
            <a:avLst/>
          </a:prstGeom>
        </p:spPr>
      </p:pic>
    </p:spTree>
    <p:extLst>
      <p:ext uri="{BB962C8B-B14F-4D97-AF65-F5344CB8AC3E}">
        <p14:creationId xmlns:p14="http://schemas.microsoft.com/office/powerpoint/2010/main" val="395435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E05C6-EA55-E6AE-E44D-94EDBE0B75AF}"/>
              </a:ext>
            </a:extLst>
          </p:cNvPr>
          <p:cNvSpPr>
            <a:spLocks noGrp="1"/>
          </p:cNvSpPr>
          <p:nvPr>
            <p:ph type="title"/>
          </p:nvPr>
        </p:nvSpPr>
        <p:spPr>
          <a:xfrm>
            <a:off x="0" y="-267728"/>
            <a:ext cx="10515600" cy="1325563"/>
          </a:xfrm>
        </p:spPr>
        <p:txBody>
          <a:bodyPr/>
          <a:lstStyle/>
          <a:p>
            <a:r>
              <a:rPr lang="en-US" dirty="0"/>
              <a:t>Google Finance</a:t>
            </a:r>
          </a:p>
        </p:txBody>
      </p:sp>
      <p:sp>
        <p:nvSpPr>
          <p:cNvPr id="3" name="Content Placeholder 2">
            <a:extLst>
              <a:ext uri="{FF2B5EF4-FFF2-40B4-BE49-F238E27FC236}">
                <a16:creationId xmlns:a16="http://schemas.microsoft.com/office/drawing/2014/main" id="{B62825FC-5CBA-EC3E-1465-929055C69CDE}"/>
              </a:ext>
            </a:extLst>
          </p:cNvPr>
          <p:cNvSpPr>
            <a:spLocks noGrp="1"/>
          </p:cNvSpPr>
          <p:nvPr>
            <p:ph idx="1"/>
          </p:nvPr>
        </p:nvSpPr>
        <p:spPr>
          <a:xfrm>
            <a:off x="322729" y="699248"/>
            <a:ext cx="11869271" cy="6049962"/>
          </a:xfrm>
        </p:spPr>
        <p:txBody>
          <a:bodyPr>
            <a:normAutofit fontScale="92500"/>
          </a:bodyPr>
          <a:lstStyle/>
          <a:p>
            <a:r>
              <a:rPr lang="en-US" dirty="0"/>
              <a:t>Geopolitical &amp; Macroeconomic Factors</a:t>
            </a:r>
          </a:p>
          <a:p>
            <a:r>
              <a:rPr lang="en-US" dirty="0"/>
              <a:t>The primary geopolitical and macro elements impacting market sentiment ahead of Apple Inc.'s (</a:t>
            </a:r>
            <a:r>
              <a:rPr lang="en-US" dirty="0">
                <a:hlinkClick r:id="rId2"/>
              </a:rPr>
              <a:t>NASDAQ:AAPL</a:t>
            </a:r>
            <a:r>
              <a:rPr lang="en-US" dirty="0"/>
              <a:t>) earnings report include:</a:t>
            </a:r>
          </a:p>
          <a:p>
            <a:pPr lvl="0"/>
            <a:r>
              <a:rPr lang="en-US" dirty="0"/>
              <a:t>U.S.–Iran Conflict Developments: Crude oil prices recently pulled back to around $89–$96 per barrel following the sudden suspension of U.S. airstrikes against Iran. This pause in hostilities has relieved broad inflationary pressures and provided a positive backdrop for consumer discretionary sentiment.</a:t>
            </a:r>
          </a:p>
          <a:p>
            <a:r>
              <a:rPr lang="en-US" dirty="0"/>
              <a:t>Supply Chain and Tariffs: Ongoing "China Plus One" supply diversification shifts to India and Vietnam continue to influence Apple's structural costs. Potential shifts in U.S. tariff policy and strict EU antitrust regulations targeting the App Store remain active long-term compliance headwinds.</a:t>
            </a:r>
          </a:p>
          <a:p>
            <a:r>
              <a:rPr lang="en-US" dirty="0"/>
              <a:t>Nasdaq (INDEXNASDAQ:. IXIC): Bullish Stabilizer. The Nasdaq-100 recently narrowly avoided entering official correction territory due to a steep chip sector selloff.</a:t>
            </a:r>
            <a:br>
              <a:rPr lang="en-US" dirty="0"/>
            </a:br>
            <a:endParaRPr lang="en-US" dirty="0"/>
          </a:p>
        </p:txBody>
      </p:sp>
    </p:spTree>
    <p:extLst>
      <p:ext uri="{BB962C8B-B14F-4D97-AF65-F5344CB8AC3E}">
        <p14:creationId xmlns:p14="http://schemas.microsoft.com/office/powerpoint/2010/main" val="556330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13B3-3558-1D72-1FBA-29E9853C7B9B}"/>
              </a:ext>
            </a:extLst>
          </p:cNvPr>
          <p:cNvSpPr>
            <a:spLocks noGrp="1"/>
          </p:cNvSpPr>
          <p:nvPr>
            <p:ph type="title"/>
          </p:nvPr>
        </p:nvSpPr>
        <p:spPr>
          <a:xfrm>
            <a:off x="138953" y="167901"/>
            <a:ext cx="10515600" cy="656851"/>
          </a:xfrm>
        </p:spPr>
        <p:txBody>
          <a:bodyPr>
            <a:normAutofit fontScale="90000"/>
          </a:bodyPr>
          <a:lstStyle/>
          <a:p>
            <a:r>
              <a:rPr lang="en-US" dirty="0"/>
              <a:t>Google Finance</a:t>
            </a:r>
          </a:p>
        </p:txBody>
      </p:sp>
      <p:sp>
        <p:nvSpPr>
          <p:cNvPr id="3" name="Content Placeholder 2">
            <a:extLst>
              <a:ext uri="{FF2B5EF4-FFF2-40B4-BE49-F238E27FC236}">
                <a16:creationId xmlns:a16="http://schemas.microsoft.com/office/drawing/2014/main" id="{65241791-9DD9-D287-7C13-1F0D1AB8A1A9}"/>
              </a:ext>
            </a:extLst>
          </p:cNvPr>
          <p:cNvSpPr>
            <a:spLocks noGrp="1"/>
          </p:cNvSpPr>
          <p:nvPr>
            <p:ph idx="1"/>
          </p:nvPr>
        </p:nvSpPr>
        <p:spPr>
          <a:xfrm>
            <a:off x="138953" y="824752"/>
            <a:ext cx="11914094" cy="6033248"/>
          </a:xfrm>
        </p:spPr>
        <p:txBody>
          <a:bodyPr>
            <a:normAutofit fontScale="92500" lnSpcReduction="10000"/>
          </a:bodyPr>
          <a:lstStyle/>
          <a:p>
            <a:pPr lvl="0"/>
            <a:r>
              <a:rPr lang="en-US" dirty="0"/>
              <a:t>Anticipated Bias: Modestly Bullish. Apple has outperformed its peer group year-to-date and briefly touched a historic $5 trillion market valuation intraday. Call option open interest heavily outpaces put options at key near-the-money thresholds, showcasing solid retail and institutional confidence.</a:t>
            </a:r>
          </a:p>
          <a:p>
            <a:pPr lvl="0"/>
            <a:r>
              <a:rPr lang="en-US" dirty="0"/>
              <a:t>Price Expansion &amp; Gapping: Volatility expansion is expected. The options market is currently pricing in an implied one-day move of approximately 3.6% to 4.0%. This is significantly higher than Apple's historical 1-day average earnings move of roughly 1% over the past year, creating strong structural potential for an opening price gap on Friday morning. However, surging components/memory costs (NAND and DRAM) capping gross margins could limit a runaway upside breakout.</a:t>
            </a:r>
          </a:p>
          <a:p>
            <a:r>
              <a:rPr lang="en-US" dirty="0"/>
              <a:t>Grade: 3.5 / 5</a:t>
            </a:r>
            <a:br>
              <a:rPr lang="en-US" dirty="0"/>
            </a:br>
            <a:r>
              <a:rPr lang="en-US" dirty="0"/>
              <a:t>While Apple typically tracks as a stable giant, the massive options implied volatility premium, the symbolic context of its $5 trillion valuation hurdle, and its role as the final earnings report under CEO Tim Cook before the September leadership transition raise the stakes for an uncharacteristically sharp, volatile reaction.</a:t>
            </a:r>
          </a:p>
        </p:txBody>
      </p:sp>
    </p:spTree>
    <p:extLst>
      <p:ext uri="{BB962C8B-B14F-4D97-AF65-F5344CB8AC3E}">
        <p14:creationId xmlns:p14="http://schemas.microsoft.com/office/powerpoint/2010/main" val="2754325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5DB16-34DE-2836-BF05-0E0AC962125A}"/>
              </a:ext>
            </a:extLst>
          </p:cNvPr>
          <p:cNvSpPr>
            <a:spLocks noGrp="1"/>
          </p:cNvSpPr>
          <p:nvPr>
            <p:ph type="title"/>
          </p:nvPr>
        </p:nvSpPr>
        <p:spPr>
          <a:xfrm>
            <a:off x="174811" y="370540"/>
            <a:ext cx="10515600" cy="620993"/>
          </a:xfrm>
        </p:spPr>
        <p:txBody>
          <a:bodyPr>
            <a:normAutofit fontScale="90000"/>
          </a:bodyPr>
          <a:lstStyle/>
          <a:p>
            <a:r>
              <a:rPr lang="en-US" dirty="0"/>
              <a:t>Gemini</a:t>
            </a:r>
          </a:p>
        </p:txBody>
      </p:sp>
      <p:sp>
        <p:nvSpPr>
          <p:cNvPr id="3" name="Content Placeholder 2">
            <a:extLst>
              <a:ext uri="{FF2B5EF4-FFF2-40B4-BE49-F238E27FC236}">
                <a16:creationId xmlns:a16="http://schemas.microsoft.com/office/drawing/2014/main" id="{6231011F-5F67-1196-9294-E5D7A989F377}"/>
              </a:ext>
            </a:extLst>
          </p:cNvPr>
          <p:cNvSpPr>
            <a:spLocks noGrp="1"/>
          </p:cNvSpPr>
          <p:nvPr>
            <p:ph idx="1"/>
          </p:nvPr>
        </p:nvSpPr>
        <p:spPr>
          <a:xfrm>
            <a:off x="174811" y="991532"/>
            <a:ext cx="11842378" cy="5660279"/>
          </a:xfrm>
        </p:spPr>
        <p:txBody>
          <a:bodyPr>
            <a:normAutofit lnSpcReduction="10000"/>
          </a:bodyPr>
          <a:lstStyle/>
          <a:p>
            <a:r>
              <a:rPr lang="en-US" dirty="0"/>
              <a:t>there is </a:t>
            </a:r>
            <a:r>
              <a:rPr lang="en-US" b="1" dirty="0"/>
              <a:t>only one mega-cap ticker</a:t>
            </a:r>
            <a:r>
              <a:rPr lang="en-US" dirty="0"/>
              <a:t> among them reporting tomorrow after market close: </a:t>
            </a:r>
            <a:r>
              <a:rPr lang="en-US" b="1" dirty="0"/>
              <a:t>Apple Inc. (NASDAQ: AAPL)</a:t>
            </a:r>
            <a:r>
              <a:rPr lang="en-US" dirty="0"/>
              <a:t>.</a:t>
            </a:r>
          </a:p>
          <a:p>
            <a:r>
              <a:rPr lang="en-US" b="1" dirty="0"/>
              <a:t>Geopolitical Factors Impacting the Move</a:t>
            </a:r>
          </a:p>
          <a:p>
            <a:pPr lvl="0"/>
            <a:r>
              <a:rPr lang="en-US" b="1" dirty="0"/>
              <a:t>Taiwan &amp; Supply Chain Risks:</a:t>
            </a:r>
            <a:r>
              <a:rPr lang="en-US" dirty="0"/>
              <a:t> Apple remains heavily reliant on TSMC (Taiwan) for its custom silicon chips (A-series and M-series). Any ongoing trade friction or regional volatility directly impacts forward margin guidance and risk sentiment.</a:t>
            </a:r>
          </a:p>
          <a:p>
            <a:pPr lvl="0"/>
            <a:r>
              <a:rPr lang="en-US" b="1" dirty="0"/>
              <a:t>China Demand &amp; Regulatory Headwinds:</a:t>
            </a:r>
            <a:r>
              <a:rPr lang="en-US" dirty="0"/>
              <a:t> Greater China represents a major portion of iPhone revenue. Investors will scrutinize sales figures for signs of domestic market share shifts and regulatory pressures surrounding AI and foreign tech compliance in the region.</a:t>
            </a:r>
          </a:p>
          <a:p>
            <a:pPr lvl="0"/>
            <a:r>
              <a:rPr lang="en-US" b="1" dirty="0"/>
              <a:t>Global Tariff &amp; Trade Policies:</a:t>
            </a:r>
            <a:r>
              <a:rPr lang="en-US" dirty="0"/>
              <a:t> Global macro policies and tech-export restrictions affect international component pricing and global consumer purchasing power.</a:t>
            </a:r>
          </a:p>
          <a:p>
            <a:endParaRPr lang="en-US" dirty="0"/>
          </a:p>
        </p:txBody>
      </p:sp>
    </p:spTree>
    <p:extLst>
      <p:ext uri="{BB962C8B-B14F-4D97-AF65-F5344CB8AC3E}">
        <p14:creationId xmlns:p14="http://schemas.microsoft.com/office/powerpoint/2010/main" val="2176979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4CAB1-BEE4-91D7-8B4C-96AB7A74289F}"/>
              </a:ext>
            </a:extLst>
          </p:cNvPr>
          <p:cNvSpPr>
            <a:spLocks noGrp="1"/>
          </p:cNvSpPr>
          <p:nvPr>
            <p:ph type="title"/>
          </p:nvPr>
        </p:nvSpPr>
        <p:spPr>
          <a:xfrm>
            <a:off x="179294" y="325717"/>
            <a:ext cx="11353800" cy="710640"/>
          </a:xfrm>
        </p:spPr>
        <p:txBody>
          <a:bodyPr/>
          <a:lstStyle/>
          <a:p>
            <a:r>
              <a:rPr lang="en-US" dirty="0"/>
              <a:t>Gemini</a:t>
            </a:r>
          </a:p>
        </p:txBody>
      </p:sp>
      <p:sp>
        <p:nvSpPr>
          <p:cNvPr id="3" name="Content Placeholder 2">
            <a:extLst>
              <a:ext uri="{FF2B5EF4-FFF2-40B4-BE49-F238E27FC236}">
                <a16:creationId xmlns:a16="http://schemas.microsoft.com/office/drawing/2014/main" id="{D7CF1E7E-D48C-F448-8139-7C068AAAA901}"/>
              </a:ext>
            </a:extLst>
          </p:cNvPr>
          <p:cNvSpPr>
            <a:spLocks noGrp="1"/>
          </p:cNvSpPr>
          <p:nvPr>
            <p:ph idx="1"/>
          </p:nvPr>
        </p:nvSpPr>
        <p:spPr>
          <a:xfrm>
            <a:off x="179294" y="1036357"/>
            <a:ext cx="11833412" cy="5687172"/>
          </a:xfrm>
        </p:spPr>
        <p:txBody>
          <a:bodyPr>
            <a:normAutofit fontScale="92500"/>
          </a:bodyPr>
          <a:lstStyle/>
          <a:p>
            <a:r>
              <a:rPr lang="en-US" b="1" dirty="0"/>
              <a:t>Expected Net Impact on S&amp;P 500 &amp; Nasdaq</a:t>
            </a:r>
          </a:p>
          <a:p>
            <a:pPr lvl="0"/>
            <a:r>
              <a:rPr lang="en-US" b="1" dirty="0"/>
              <a:t>Outsized Market Index Weight:</a:t>
            </a:r>
            <a:r>
              <a:rPr lang="en-US" dirty="0"/>
              <a:t> As a multi-trillion-dollar market cap titan, AAPL carries significant weight in both the S&amp;P 500 (~7%) and Nasdaq 100 (~8-9%).</a:t>
            </a:r>
          </a:p>
          <a:p>
            <a:pPr lvl="0"/>
            <a:r>
              <a:rPr lang="en-US" b="1" dirty="0"/>
              <a:t>Broader Market Sentiment:</a:t>
            </a:r>
            <a:r>
              <a:rPr lang="en-US" dirty="0"/>
              <a:t> A surprise beat or miss by Apple will heavily dictate Friday's market direction, likely pulling down or lifting broader tech and consumer discretionary sectors regardless of earnings from mid-cap names.</a:t>
            </a:r>
          </a:p>
          <a:p>
            <a:r>
              <a:rPr lang="en-US" b="1" dirty="0"/>
              <a:t>Directional Bias (Bullish vs. Bearish) &amp; Price Expansion</a:t>
            </a:r>
          </a:p>
          <a:p>
            <a:pPr lvl="0"/>
            <a:r>
              <a:rPr lang="en-US" b="1" dirty="0"/>
              <a:t>Bias:</a:t>
            </a:r>
            <a:r>
              <a:rPr lang="en-US" dirty="0"/>
              <a:t> </a:t>
            </a:r>
            <a:r>
              <a:rPr lang="en-US" b="1" dirty="0"/>
              <a:t>Slightly Bullish to Neutral</a:t>
            </a:r>
            <a:r>
              <a:rPr lang="en-US" dirty="0"/>
              <a:t>. Wall Street is anticipating solid Q3 results driven by Services margin stability and steady iPhone upgrades. However, high expectations mean guidance on memory costs and AI features needs to overdeliver to sustain the rally.</a:t>
            </a:r>
          </a:p>
          <a:p>
            <a:pPr lvl="0"/>
            <a:r>
              <a:rPr lang="en-US" b="1" dirty="0"/>
              <a:t>Price Expansion:</a:t>
            </a:r>
            <a:r>
              <a:rPr lang="en-US" dirty="0"/>
              <a:t> </a:t>
            </a:r>
            <a:r>
              <a:rPr lang="en-US" b="1" dirty="0"/>
              <a:t>Expected.</a:t>
            </a:r>
            <a:r>
              <a:rPr lang="en-US" dirty="0"/>
              <a:t> Options markets are currently pricing in a typical post-earnings move of around </a:t>
            </a:r>
            <a:r>
              <a:rPr lang="en-US" b="1" dirty="0"/>
              <a:t>±3.5%</a:t>
            </a:r>
            <a:r>
              <a:rPr lang="en-US" dirty="0"/>
              <a:t>.</a:t>
            </a:r>
          </a:p>
          <a:p>
            <a:endParaRPr lang="en-US" dirty="0"/>
          </a:p>
        </p:txBody>
      </p:sp>
    </p:spTree>
    <p:extLst>
      <p:ext uri="{BB962C8B-B14F-4D97-AF65-F5344CB8AC3E}">
        <p14:creationId xmlns:p14="http://schemas.microsoft.com/office/powerpoint/2010/main" val="2111299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47304-F682-00BA-5C5F-0B647A05CE9E}"/>
              </a:ext>
            </a:extLst>
          </p:cNvPr>
          <p:cNvSpPr>
            <a:spLocks noGrp="1"/>
          </p:cNvSpPr>
          <p:nvPr>
            <p:ph type="title"/>
          </p:nvPr>
        </p:nvSpPr>
        <p:spPr>
          <a:xfrm>
            <a:off x="268941" y="343646"/>
            <a:ext cx="10515600" cy="674781"/>
          </a:xfrm>
        </p:spPr>
        <p:txBody>
          <a:bodyPr>
            <a:normAutofit fontScale="90000"/>
          </a:bodyPr>
          <a:lstStyle/>
          <a:p>
            <a:r>
              <a:rPr lang="en-US" dirty="0"/>
              <a:t>Gemini</a:t>
            </a:r>
          </a:p>
        </p:txBody>
      </p:sp>
      <p:sp>
        <p:nvSpPr>
          <p:cNvPr id="3" name="Content Placeholder 2">
            <a:extLst>
              <a:ext uri="{FF2B5EF4-FFF2-40B4-BE49-F238E27FC236}">
                <a16:creationId xmlns:a16="http://schemas.microsoft.com/office/drawing/2014/main" id="{27174681-862E-D986-8B5E-C3BC91A65D1A}"/>
              </a:ext>
            </a:extLst>
          </p:cNvPr>
          <p:cNvSpPr>
            <a:spLocks noGrp="1"/>
          </p:cNvSpPr>
          <p:nvPr>
            <p:ph idx="1"/>
          </p:nvPr>
        </p:nvSpPr>
        <p:spPr>
          <a:xfrm>
            <a:off x="268941" y="1018427"/>
            <a:ext cx="11084859" cy="5158536"/>
          </a:xfrm>
        </p:spPr>
        <p:txBody>
          <a:bodyPr>
            <a:normAutofit lnSpcReduction="10000"/>
          </a:bodyPr>
          <a:lstStyle/>
          <a:p>
            <a:r>
              <a:rPr lang="en-US" b="1" dirty="0"/>
              <a:t>Potential for a Price Gap</a:t>
            </a:r>
          </a:p>
          <a:p>
            <a:pPr lvl="0"/>
            <a:r>
              <a:rPr lang="en-US" b="1" dirty="0"/>
              <a:t>High Risk of an Overnight Gap.</a:t>
            </a:r>
            <a:r>
              <a:rPr lang="en-US" dirty="0"/>
              <a:t> Because Apple reports after the market closes on July 30, the reaction will take place in after-hours trading.</a:t>
            </a:r>
          </a:p>
          <a:p>
            <a:pPr lvl="0"/>
            <a:r>
              <a:rPr lang="en-US" dirty="0"/>
              <a:t>Expect the Friday morning open to feature a notable </a:t>
            </a:r>
            <a:r>
              <a:rPr lang="en-US" b="1" dirty="0"/>
              <a:t>gap up or gap down</a:t>
            </a:r>
            <a:r>
              <a:rPr lang="en-US" dirty="0"/>
              <a:t> depending on management's forward Q4 guidance and commentary on consumer hardware adoption.</a:t>
            </a:r>
          </a:p>
          <a:p>
            <a:r>
              <a:rPr lang="en-US" b="1" dirty="0"/>
              <a:t>Potential Price Move Grade: 4 / 5</a:t>
            </a:r>
          </a:p>
          <a:p>
            <a:r>
              <a:rPr lang="en-US" b="1" dirty="0"/>
              <a:t>Grade Explanation:</a:t>
            </a:r>
            <a:r>
              <a:rPr lang="en-US" dirty="0"/>
              <a:t> While Apple’s standalone implied volatility move (±3.5%) is smaller in percentage terms compared to high-beta stocks like MicroStrategy (MSTR) or First Solar (FSLR), its dollar-value impact on the macro market is massive. A 3–4% swing on AAPL equates to over $100+ billion in market cap shifting overnight, making it a high-impact catalyst for the entire market.</a:t>
            </a:r>
          </a:p>
          <a:p>
            <a:endParaRPr lang="en-US" dirty="0"/>
          </a:p>
        </p:txBody>
      </p:sp>
    </p:spTree>
    <p:extLst>
      <p:ext uri="{BB962C8B-B14F-4D97-AF65-F5344CB8AC3E}">
        <p14:creationId xmlns:p14="http://schemas.microsoft.com/office/powerpoint/2010/main" val="2426003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BA2D-6797-8FD1-0DA0-A3D29E03FB27}"/>
              </a:ext>
            </a:extLst>
          </p:cNvPr>
          <p:cNvSpPr>
            <a:spLocks noGrp="1"/>
          </p:cNvSpPr>
          <p:nvPr>
            <p:ph type="title"/>
          </p:nvPr>
        </p:nvSpPr>
        <p:spPr/>
        <p:txBody>
          <a:bodyPr/>
          <a:lstStyle/>
          <a:p>
            <a:r>
              <a:rPr lang="en-US" dirty="0"/>
              <a:t>Option 2</a:t>
            </a:r>
          </a:p>
        </p:txBody>
      </p:sp>
      <p:sp>
        <p:nvSpPr>
          <p:cNvPr id="3" name="Content Placeholder 2">
            <a:extLst>
              <a:ext uri="{FF2B5EF4-FFF2-40B4-BE49-F238E27FC236}">
                <a16:creationId xmlns:a16="http://schemas.microsoft.com/office/drawing/2014/main" id="{53359EB3-5A26-7436-D8EA-CEBDC4553AFA}"/>
              </a:ext>
            </a:extLst>
          </p:cNvPr>
          <p:cNvSpPr>
            <a:spLocks noGrp="1"/>
          </p:cNvSpPr>
          <p:nvPr>
            <p:ph idx="1"/>
          </p:nvPr>
        </p:nvSpPr>
        <p:spPr/>
        <p:txBody>
          <a:bodyPr>
            <a:normAutofit fontScale="92500" lnSpcReduction="10000"/>
          </a:bodyPr>
          <a:lstStyle/>
          <a:p>
            <a:r>
              <a:rPr lang="en-US" dirty="0"/>
              <a:t>"Analyzing tomorrow's mega-cap earnings for </a:t>
            </a:r>
            <a:r>
              <a:rPr lang="en-US" b="1" dirty="0"/>
              <a:t>[Insert Tickers]</a:t>
            </a:r>
            <a:r>
              <a:rPr lang="en-US" dirty="0"/>
              <a:t>:</a:t>
            </a:r>
          </a:p>
          <a:p>
            <a:r>
              <a:rPr lang="en-US" dirty="0"/>
              <a:t>Considering these reports along with any recent geopolitical news or competitor developments:</a:t>
            </a:r>
          </a:p>
          <a:p>
            <a:pPr lvl="0"/>
            <a:r>
              <a:rPr lang="en-US" dirty="0"/>
              <a:t>What is the aggregate impact on S&amp;P 500 and Nasdaq futures?</a:t>
            </a:r>
          </a:p>
          <a:p>
            <a:pPr lvl="0"/>
            <a:r>
              <a:rPr lang="en-US" dirty="0"/>
              <a:t>Which direction do you anticipate price moving, and is a major price expansion expected?</a:t>
            </a:r>
          </a:p>
          <a:p>
            <a:pPr lvl="0"/>
            <a:r>
              <a:rPr lang="en-US" dirty="0"/>
              <a:t>Is this response expected to create an opening price gap?</a:t>
            </a:r>
          </a:p>
          <a:p>
            <a:pPr lvl="0"/>
            <a:r>
              <a:rPr lang="en-US" b="1" dirty="0"/>
              <a:t>Grade the potential price movement on a scale of 0 to 5</a:t>
            </a:r>
            <a:r>
              <a:rPr lang="en-US" dirty="0"/>
              <a:t> (0 = lowest movement, 5 = biggest projected movement).</a:t>
            </a:r>
          </a:p>
          <a:p>
            <a:r>
              <a:rPr lang="en-US" dirty="0"/>
              <a:t>Provide a brief summary with key market levels."</a:t>
            </a:r>
          </a:p>
          <a:p>
            <a:endParaRPr lang="en-US" dirty="0"/>
          </a:p>
        </p:txBody>
      </p:sp>
    </p:spTree>
    <p:extLst>
      <p:ext uri="{BB962C8B-B14F-4D97-AF65-F5344CB8AC3E}">
        <p14:creationId xmlns:p14="http://schemas.microsoft.com/office/powerpoint/2010/main" val="2699391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81499-4B10-1897-6178-CEED0D316E53}"/>
              </a:ext>
            </a:extLst>
          </p:cNvPr>
          <p:cNvSpPr>
            <a:spLocks noGrp="1"/>
          </p:cNvSpPr>
          <p:nvPr>
            <p:ph type="title"/>
          </p:nvPr>
        </p:nvSpPr>
        <p:spPr/>
        <p:txBody>
          <a:bodyPr/>
          <a:lstStyle/>
          <a:p>
            <a:r>
              <a:rPr lang="en-US" dirty="0"/>
              <a:t>Option 3</a:t>
            </a:r>
          </a:p>
        </p:txBody>
      </p:sp>
      <p:sp>
        <p:nvSpPr>
          <p:cNvPr id="3" name="Content Placeholder 2">
            <a:extLst>
              <a:ext uri="{FF2B5EF4-FFF2-40B4-BE49-F238E27FC236}">
                <a16:creationId xmlns:a16="http://schemas.microsoft.com/office/drawing/2014/main" id="{68368FC6-DD10-2001-467B-3FE659BFC0B0}"/>
              </a:ext>
            </a:extLst>
          </p:cNvPr>
          <p:cNvSpPr>
            <a:spLocks noGrp="1"/>
          </p:cNvSpPr>
          <p:nvPr>
            <p:ph idx="1"/>
          </p:nvPr>
        </p:nvSpPr>
        <p:spPr/>
        <p:txBody>
          <a:bodyPr/>
          <a:lstStyle/>
          <a:p>
            <a:r>
              <a:rPr lang="en-US" b="1" u="sng" dirty="0"/>
              <a:t>Why this wording works:</a:t>
            </a:r>
          </a:p>
          <a:p>
            <a:pPr lvl="0"/>
            <a:r>
              <a:rPr lang="en-US" b="1" u="sng" dirty="0"/>
              <a:t>"Macro &amp; Geopolitical </a:t>
            </a:r>
            <a:r>
              <a:rPr lang="en-US" b="1" dirty="0"/>
              <a:t>Headwinds/Tailwinds"</a:t>
            </a:r>
            <a:r>
              <a:rPr lang="en-US" dirty="0"/>
              <a:t> frames the competitor and global news question using standard market terminology, signaling the AI to look at trade policies, regional demand, supply chain disruptions, or foreign competitive threats.</a:t>
            </a:r>
          </a:p>
          <a:p>
            <a:pPr lvl="0"/>
            <a:r>
              <a:rPr lang="en-US" b="1" dirty="0"/>
              <a:t>Streamlined flow:</a:t>
            </a:r>
            <a:r>
              <a:rPr lang="en-US" dirty="0"/>
              <a:t> Placing the macro news check </a:t>
            </a:r>
            <a:r>
              <a:rPr lang="en-US" i="1" dirty="0"/>
              <a:t>first</a:t>
            </a:r>
            <a:r>
              <a:rPr lang="en-US" dirty="0"/>
              <a:t> builds the fundamental backdrop before jumping into index impact, directional bias, and gap risk.</a:t>
            </a:r>
          </a:p>
          <a:p>
            <a:endParaRPr lang="en-US" dirty="0"/>
          </a:p>
        </p:txBody>
      </p:sp>
    </p:spTree>
    <p:extLst>
      <p:ext uri="{BB962C8B-B14F-4D97-AF65-F5344CB8AC3E}">
        <p14:creationId xmlns:p14="http://schemas.microsoft.com/office/powerpoint/2010/main" val="3967850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75C8D-C4FC-49AC-257E-82C360A4DB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C59DD7-2D0C-4385-B05F-7F1D1246AF38}"/>
              </a:ext>
            </a:extLst>
          </p:cNvPr>
          <p:cNvSpPr>
            <a:spLocks noGrp="1"/>
          </p:cNvSpPr>
          <p:nvPr>
            <p:ph idx="1"/>
          </p:nvPr>
        </p:nvSpPr>
        <p:spPr/>
        <p:txBody>
          <a:bodyPr/>
          <a:lstStyle/>
          <a:p>
            <a:r>
              <a:rPr lang="en-US" b="1" dirty="0"/>
              <a:t>What the AI's Output Will Look Like:</a:t>
            </a:r>
          </a:p>
          <a:p>
            <a:r>
              <a:rPr lang="en-US" dirty="0"/>
              <a:t>Adding this metric will force the AI to give you a clear, quantified rating alongside its breakdown, such as:</a:t>
            </a:r>
          </a:p>
          <a:p>
            <a:r>
              <a:rPr lang="en-US" b="1" dirty="0"/>
              <a:t>Price Move Severity Score:</a:t>
            </a:r>
            <a:r>
              <a:rPr lang="en-US" dirty="0"/>
              <a:t> </a:t>
            </a:r>
            <a:r>
              <a:rPr lang="en-US" b="1" dirty="0"/>
              <a:t>4/5</a:t>
            </a:r>
            <a:endParaRPr lang="en-US" dirty="0"/>
          </a:p>
          <a:p>
            <a:r>
              <a:rPr lang="en-US" i="1" dirty="0"/>
              <a:t>Rationale: High market weight + high implied volatility in options pricing suggests a significant move relative to h</a:t>
            </a:r>
            <a:endParaRPr lang="en-US" dirty="0"/>
          </a:p>
          <a:p>
            <a:endParaRPr lang="en-US" dirty="0"/>
          </a:p>
        </p:txBody>
      </p:sp>
    </p:spTree>
    <p:extLst>
      <p:ext uri="{BB962C8B-B14F-4D97-AF65-F5344CB8AC3E}">
        <p14:creationId xmlns:p14="http://schemas.microsoft.com/office/powerpoint/2010/main" val="955535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03A44-379E-876C-4D99-F660BEF6CA4A}"/>
              </a:ext>
            </a:extLst>
          </p:cNvPr>
          <p:cNvSpPr>
            <a:spLocks noGrp="1"/>
          </p:cNvSpPr>
          <p:nvPr>
            <p:ph type="title"/>
          </p:nvPr>
        </p:nvSpPr>
        <p:spPr/>
        <p:txBody>
          <a:bodyPr/>
          <a:lstStyle/>
          <a:p>
            <a:r>
              <a:rPr lang="en-US" dirty="0"/>
              <a:t>Any Mega-Cap Competitor Global Events</a:t>
            </a:r>
          </a:p>
        </p:txBody>
      </p:sp>
      <p:sp>
        <p:nvSpPr>
          <p:cNvPr id="3" name="Content Placeholder 2">
            <a:extLst>
              <a:ext uri="{FF2B5EF4-FFF2-40B4-BE49-F238E27FC236}">
                <a16:creationId xmlns:a16="http://schemas.microsoft.com/office/drawing/2014/main" id="{7D683947-8EFC-2440-4B2D-186DB0A6AF60}"/>
              </a:ext>
            </a:extLst>
          </p:cNvPr>
          <p:cNvSpPr>
            <a:spLocks noGrp="1"/>
          </p:cNvSpPr>
          <p:nvPr>
            <p:ph idx="1"/>
          </p:nvPr>
        </p:nvSpPr>
        <p:spPr>
          <a:xfrm>
            <a:off x="838200" y="1816571"/>
            <a:ext cx="10515600" cy="4351338"/>
          </a:xfrm>
        </p:spPr>
        <p:txBody>
          <a:bodyPr>
            <a:normAutofit fontScale="92500" lnSpcReduction="20000"/>
          </a:bodyPr>
          <a:lstStyle/>
          <a:p>
            <a:r>
              <a:rPr lang="en-US" dirty="0"/>
              <a:t>Future Events: </a:t>
            </a:r>
          </a:p>
          <a:p>
            <a:pPr marL="514350" indent="-514350">
              <a:buFont typeface="+mj-lt"/>
              <a:buAutoNum type="arabicPeriod"/>
            </a:pPr>
            <a:r>
              <a:rPr lang="en-US" dirty="0"/>
              <a:t>Global IPO Launch</a:t>
            </a:r>
          </a:p>
          <a:p>
            <a:pPr marL="514350" indent="-514350">
              <a:buFont typeface="+mj-lt"/>
              <a:buAutoNum type="arabicPeriod"/>
            </a:pPr>
            <a:r>
              <a:rPr lang="en-US" dirty="0"/>
              <a:t>Global Quarterly Earnings Report </a:t>
            </a:r>
          </a:p>
          <a:p>
            <a:pPr marL="514350" indent="-514350">
              <a:buFont typeface="+mj-lt"/>
              <a:buAutoNum type="arabicPeriod"/>
            </a:pPr>
            <a:r>
              <a:rPr lang="en-US" dirty="0"/>
              <a:t>Global Announcements  </a:t>
            </a:r>
          </a:p>
          <a:p>
            <a:pPr marL="514350" indent="-514350">
              <a:buFont typeface="+mj-lt"/>
              <a:buAutoNum type="arabicPeriod"/>
            </a:pPr>
            <a:r>
              <a:rPr lang="en-US" dirty="0"/>
              <a:t>What is the aggregate Impact to  S&amp;P500 &amp; </a:t>
            </a:r>
            <a:r>
              <a:rPr lang="en-US" dirty="0" err="1"/>
              <a:t>NasDaq</a:t>
            </a:r>
            <a:r>
              <a:rPr lang="en-US" dirty="0"/>
              <a:t> Futures</a:t>
            </a:r>
          </a:p>
          <a:p>
            <a:pPr marL="514350" indent="-514350">
              <a:buFont typeface="+mj-lt"/>
              <a:buAutoNum type="arabicPeriod"/>
            </a:pPr>
            <a:r>
              <a:rPr lang="en-US" dirty="0"/>
              <a:t>Do you expect a major Increase or Decrease if Price  action</a:t>
            </a:r>
          </a:p>
          <a:p>
            <a:pPr marL="514350" indent="-514350">
              <a:buFont typeface="+mj-lt"/>
              <a:buAutoNum type="arabicPeriod"/>
            </a:pPr>
            <a:r>
              <a:rPr lang="en-US" dirty="0"/>
              <a:t>Which Direction Do you anticipate the movement</a:t>
            </a:r>
          </a:p>
          <a:p>
            <a:pPr marL="514350" indent="-514350">
              <a:buFont typeface="+mj-lt"/>
              <a:buAutoNum type="arabicPeriod"/>
            </a:pPr>
            <a:r>
              <a:rPr lang="en-US" dirty="0"/>
              <a:t>Will the response create a Price Gap</a:t>
            </a:r>
            <a:br>
              <a:rPr lang="en-US" dirty="0"/>
            </a:br>
            <a:br>
              <a:rPr lang="en-US" dirty="0"/>
            </a:br>
            <a:br>
              <a:rPr lang="en-US" dirty="0"/>
            </a:br>
            <a:br>
              <a:rPr lang="en-US" dirty="0"/>
            </a:br>
            <a:endParaRPr lang="en-US" dirty="0"/>
          </a:p>
          <a:p>
            <a:endParaRPr lang="en-US" dirty="0"/>
          </a:p>
          <a:p>
            <a:endParaRPr lang="en-US" dirty="0"/>
          </a:p>
          <a:p>
            <a:endParaRPr lang="en-US" dirty="0"/>
          </a:p>
        </p:txBody>
      </p:sp>
    </p:spTree>
    <p:extLst>
      <p:ext uri="{BB962C8B-B14F-4D97-AF65-F5344CB8AC3E}">
        <p14:creationId xmlns:p14="http://schemas.microsoft.com/office/powerpoint/2010/main" val="4248364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43167-3957-4DCD-2141-A9018CA6971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24ACCB3-D3A0-0527-FF0E-6436033046F0}"/>
              </a:ext>
            </a:extLst>
          </p:cNvPr>
          <p:cNvPicPr>
            <a:picLocks noGrp="1" noChangeAspect="1"/>
          </p:cNvPicPr>
          <p:nvPr>
            <p:ph idx="1"/>
          </p:nvPr>
        </p:nvPicPr>
        <p:blipFill>
          <a:blip r:embed="rId2"/>
          <a:stretch>
            <a:fillRect/>
          </a:stretch>
        </p:blipFill>
        <p:spPr>
          <a:xfrm>
            <a:off x="2264490" y="1807518"/>
            <a:ext cx="6105823" cy="4351338"/>
          </a:xfrm>
          <a:prstGeom prst="rect">
            <a:avLst/>
          </a:prstGeom>
        </p:spPr>
      </p:pic>
    </p:spTree>
    <p:extLst>
      <p:ext uri="{BB962C8B-B14F-4D97-AF65-F5344CB8AC3E}">
        <p14:creationId xmlns:p14="http://schemas.microsoft.com/office/powerpoint/2010/main" val="407790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0F4A-ECD5-F872-6F8F-DE3CC8F8B6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AA37B7-7AF9-6DBD-6A00-20113671A070}"/>
              </a:ext>
            </a:extLst>
          </p:cNvPr>
          <p:cNvSpPr>
            <a:spLocks noGrp="1"/>
          </p:cNvSpPr>
          <p:nvPr>
            <p:ph idx="1"/>
          </p:nvPr>
        </p:nvSpPr>
        <p:spPr/>
        <p:txBody>
          <a:bodyPr>
            <a:normAutofit fontScale="70000" lnSpcReduction="20000"/>
          </a:bodyPr>
          <a:lstStyle/>
          <a:p>
            <a:r>
              <a:rPr lang="en-US" dirty="0"/>
              <a:t>Based on financial market events from Sunday, July 26, and Monday, July 27, 2026:</a:t>
            </a:r>
          </a:p>
          <a:p>
            <a:r>
              <a:rPr lang="en-US" dirty="0"/>
              <a:t>The Price Gap on Sunday, July 26 (Market Open): The upward gap at the Sunday futures open was driven by significant geopolitical relief. Over the weekend, the United States and Iran paused military strikes, which drastically eased fears of an escalating Middle East conflict and a prolonged Red Sea blockade. As a result, crude oil prices tumbled by roughly 6% to 7%, sparking a sharp risk-on rally that caused stock indices to gap higher overnight.</a:t>
            </a:r>
          </a:p>
          <a:p>
            <a:r>
              <a:rPr lang="en-US" dirty="0"/>
              <a:t>The Bearish Movement on Monday, July 27 (Market Open): The reversal into a sharp downward trend after the opening bell was triggered by renewed pressure on the technology sector, specifically semiconductor stocks. </a:t>
            </a:r>
            <a:r>
              <a:rPr lang="en-US" dirty="0">
                <a:solidFill>
                  <a:srgbClr val="FF0000"/>
                </a:solidFill>
                <a:highlight>
                  <a:srgbClr val="FFFF00"/>
                </a:highlight>
              </a:rPr>
              <a:t>A major catalyst was the blockbuster debut of Chinese memory chipmaker CXMT</a:t>
            </a:r>
            <a:r>
              <a:rPr lang="en-US" dirty="0"/>
              <a:t> on </a:t>
            </a:r>
            <a:r>
              <a:rPr lang="en-US" dirty="0">
                <a:solidFill>
                  <a:srgbClr val="FF0000"/>
                </a:solidFill>
              </a:rPr>
              <a:t>the Shanghai Stock Exchange</a:t>
            </a:r>
            <a:r>
              <a:rPr lang="en-US" dirty="0"/>
              <a:t>, coupled with reports that China had successfully begun developing its own deep ultraviolet (DUV) lithography machines. This raised immediate concerns over intensified global competition and future market share, causing the VanEck Semiconductor ETF (SMH) to drop over 4% and dragging down major tech indexes despite the broader geopolitical relief.</a:t>
            </a:r>
          </a:p>
          <a:p>
            <a:br>
              <a:rPr lang="en-US" dirty="0"/>
            </a:br>
            <a:endParaRPr lang="en-US" dirty="0"/>
          </a:p>
        </p:txBody>
      </p:sp>
    </p:spTree>
    <p:extLst>
      <p:ext uri="{BB962C8B-B14F-4D97-AF65-F5344CB8AC3E}">
        <p14:creationId xmlns:p14="http://schemas.microsoft.com/office/powerpoint/2010/main" val="975982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9B4C35-8AA9-DE3D-6DCD-C44D312B93D4}"/>
              </a:ext>
            </a:extLst>
          </p:cNvPr>
          <p:cNvPicPr>
            <a:picLocks noGrp="1" noChangeAspect="1"/>
          </p:cNvPicPr>
          <p:nvPr>
            <p:ph idx="1"/>
          </p:nvPr>
        </p:nvPicPr>
        <p:blipFill>
          <a:blip r:embed="rId2"/>
          <a:stretch>
            <a:fillRect/>
          </a:stretch>
        </p:blipFill>
        <p:spPr>
          <a:xfrm>
            <a:off x="2008061" y="471793"/>
            <a:ext cx="6904272" cy="5914413"/>
          </a:xfrm>
          <a:prstGeom prst="rect">
            <a:avLst/>
          </a:prstGeom>
        </p:spPr>
      </p:pic>
    </p:spTree>
    <p:extLst>
      <p:ext uri="{BB962C8B-B14F-4D97-AF65-F5344CB8AC3E}">
        <p14:creationId xmlns:p14="http://schemas.microsoft.com/office/powerpoint/2010/main" val="603121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89FD1C-DB6F-27FA-3BC8-A688CBAE8AA4}"/>
              </a:ext>
            </a:extLst>
          </p:cNvPr>
          <p:cNvPicPr>
            <a:picLocks noGrp="1" noChangeAspect="1"/>
          </p:cNvPicPr>
          <p:nvPr>
            <p:ph idx="1"/>
          </p:nvPr>
        </p:nvPicPr>
        <p:blipFill>
          <a:blip r:embed="rId2"/>
          <a:stretch>
            <a:fillRect/>
          </a:stretch>
        </p:blipFill>
        <p:spPr>
          <a:xfrm>
            <a:off x="1518562" y="689077"/>
            <a:ext cx="8912007" cy="5841985"/>
          </a:xfrm>
          <a:prstGeom prst="rect">
            <a:avLst/>
          </a:prstGeom>
        </p:spPr>
      </p:pic>
    </p:spTree>
    <p:extLst>
      <p:ext uri="{BB962C8B-B14F-4D97-AF65-F5344CB8AC3E}">
        <p14:creationId xmlns:p14="http://schemas.microsoft.com/office/powerpoint/2010/main" val="2557630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0</TotalTime>
  <Words>1517</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Mega Cap</vt:lpstr>
      <vt:lpstr>OPTION 1</vt:lpstr>
      <vt:lpstr>Google Finance</vt:lpstr>
      <vt:lpstr>Google Finance</vt:lpstr>
      <vt:lpstr>Google Finance</vt:lpstr>
      <vt:lpstr>Gemini</vt:lpstr>
      <vt:lpstr>Gemini</vt:lpstr>
      <vt:lpstr>Gemini</vt:lpstr>
      <vt:lpstr>Option 2</vt:lpstr>
      <vt:lpstr>Option 3</vt:lpstr>
      <vt:lpstr>PowerPoint Presentation</vt:lpstr>
      <vt:lpstr>Any Mega-Cap Competitor Global Events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Miles Johnson</dc:creator>
  <cp:lastModifiedBy>Michael Falatine</cp:lastModifiedBy>
  <cp:revision>8</cp:revision>
  <dcterms:created xsi:type="dcterms:W3CDTF">2026-07-28T10:51:25Z</dcterms:created>
  <dcterms:modified xsi:type="dcterms:W3CDTF">2026-07-29T20:53:57Z</dcterms:modified>
</cp:coreProperties>
</file>